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auto_cst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nm</a:t>
            </a:r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peak error,  </a:t>
            </a:r>
            <a:pPr indent="0" marL="0">
              <a:buNone/>
            </a:pPr>
            <a:r>
              <a:rPr lang="en-US" sz="96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99.94%</a:t>
            </a:r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absorption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NIR perfect-absorber design via a three-stage agent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</a:t>
            </a:r>
            <a:pPr indent="0" marL="0">
              <a:buNone/>
            </a:pPr>
            <a:r>
              <a:rPr lang="en-US" sz="1300" spc="100" kern="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   </a:t>
            </a:r>
            <a:pPr indent="0" marL="0">
              <a:buNone/>
            </a:pPr>
            <a:r>
              <a:rPr lang="en-US" sz="1300" b="1" spc="1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</a:t>
            </a:r>
            <a:pPr indent="0" marL="0">
              <a:buNone/>
            </a:pPr>
            <a:r>
              <a:rPr lang="en-US" sz="1300" spc="100" kern="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geometry build     </a:t>
            </a:r>
            <a:pPr indent="0" marL="0">
              <a:buNone/>
            </a:pPr>
            <a:r>
              <a:rPr lang="en-US" sz="1300" b="1" spc="1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</a:t>
            </a:r>
            <a:pPr indent="0" marL="0">
              <a:buNone/>
            </a:pPr>
            <a:r>
              <a:rPr lang="en-US" sz="1300" spc="100" kern="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LLM-in-loop fine-tune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2286000" cy="0"/>
          </a:xfrm>
          <a:prstGeom prst="line">
            <a:avLst/>
          </a:prstGeom>
          <a:noFill/>
          <a:ln w="25400">
            <a:solidFill>
              <a:srgbClr val="C77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1550 nm absorber  ·  TM polarization  ·  CST Studio Suite + OpenAI gpt-4o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github.com/DaryLu0v0/auto_cst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NIR perfect absorber at 1550 nm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(telecom C-band, 193.41 THz) traditionally requires expert manual iteration in a full-wave EM solver — tweaking geometric parameters until the simulated reflection peak lines up with the target wavelength.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design takes 5–15 minutes to simulate. A typical convergence path is 10–50 iterations. Across multiple shape hypotheses, this is hours-to-days of expert time per target.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1627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SIMULATION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5–15 min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0" y="274320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10–50 iters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315200" y="402336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WAVELENGTH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4434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3–10 designs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loop end-to-end. From a one-line target spec to a converged CST project, no human in the loop.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agent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an autonomous LLM-driven module that hands off via a JSON contract.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74720" cy="2926080"/>
          </a:xfrm>
          <a:prstGeom prst="rect">
            <a:avLst/>
          </a:prstGeom>
          <a:solidFill>
            <a:srgbClr val="F2EBE0"/>
          </a:solidFill>
          <a:ln w="19050">
            <a:solidFill>
              <a:srgbClr val="6B7B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(upstream, prior work)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Target spec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hypothesis.json — ranked papers + λ-scaled designs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figure extraction · LLM ranking · automated PDF acquisition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3474720"/>
            <a:ext cx="146304" cy="0"/>
          </a:xfrm>
          <a:prstGeom prst="line">
            <a:avLst/>
          </a:prstGeom>
          <a:noFill/>
          <a:ln w="25400">
            <a:solidFill>
              <a:srgbClr val="C775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201168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5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CST geometry build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work)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hypothesis.json + chosen rank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per-hypothesis CST project (working_X.cst)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injection harness · constraint validation · materials/geometry/ports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36408" y="3474720"/>
            <a:ext cx="146304" cy="0"/>
          </a:xfrm>
          <a:prstGeom prst="line">
            <a:avLst/>
          </a:prstGeom>
          <a:noFill/>
          <a:ln w="25400">
            <a:solidFill>
              <a:srgbClr val="C775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201168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5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LLM-in-loop optimizer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work)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working CST project + score function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converged design + iteration history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· keep/revert loop · mode-hop detection · constraint retry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stages 2 and 3. Stage 1 output is treated as an input contract.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input — top-3 ranked hypotheses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lit-review agent screened 54 papers; ranked 6; handed off the top 3.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468880"/>
                <a:gridCol w="3749040"/>
                <a:gridCol w="9144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Geometry (lit review)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Dimensions extracted?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7F0E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10.1364/oe.415960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Elliptical disk supercell (4 ellipses)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0.467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62828"/>
                          </a:solidFill>
                        </a:rPr>
                        <a:t>Shape only — dimensions all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77B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10.1039/d2ra05617h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</a:rPr>
                        <a:t>Metallic disk MIM on Au/SiO₂/Ag stack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0.442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Yes — λ-scaled by 1.32× to 1550 nm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A02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10.1021/acsphotonics.8b00872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Lithography-free planar absorber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0.383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62828"/>
                          </a:solidFill>
                        </a:rPr>
                        <a:t>No shape, no dimensions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31920"/>
            <a:ext cx="10881360" cy="73152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605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rank 2 was simulation-ready. Ranks 1 and 3 had figures but no extracted dimensions — for those, stage 2 had to invent reasonable starting geometry. This made convergence harder and produced a real result we couldn't have predicted from the lit review alone.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 </a:t>
            </a:r>
            <a:pPr indent="0" marL="0">
              <a:buNone/>
            </a:pPr>
            <a:r>
              <a:rPr lang="en-US" sz="1300" b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1550 nm (193.41 THz)     </a:t>
            </a:r>
            <a:pPr indent="0" marL="0">
              <a:buNone/>
            </a:pPr>
            <a:r>
              <a:rPr lang="en-US" sz="13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FWHM: 200 nm     </a:t>
            </a:r>
            <a:pPr indent="0" marL="0">
              <a:buNone/>
            </a:pPr>
            <a:r>
              <a:rPr lang="en-US" sz="13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Polarization: TM     </a:t>
            </a:r>
            <a:pPr indent="0" marL="0">
              <a:buNone/>
            </a:pPr>
            <a:r>
              <a:rPr lang="en-US" sz="12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|f − target| + 0.2 · max(0, 0.90 − abs)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building the unit cell from VBA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hypothesis-specific runners share one MIM stack and one VBA-injection pattern.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840480" cy="603504"/>
          </a:xfrm>
          <a:prstGeom prst="rect">
            <a:avLst/>
          </a:prstGeom>
          <a:solidFill>
            <a:srgbClr val="DCDCE0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resonator (h)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3840480" cy="603504"/>
          </a:xfrm>
          <a:prstGeom prst="rect">
            <a:avLst/>
          </a:prstGeom>
          <a:solidFill>
            <a:srgbClr val="DCE7F0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spacer (d)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3840480" cy="603504"/>
          </a:xfrm>
          <a:prstGeom prst="rect">
            <a:avLst/>
          </a:prstGeom>
          <a:solidFill>
            <a:srgbClr val="F2D788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ground (t_ground)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unit cell, period p (square lattice)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26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resonator shapes, one stack: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 disk (r)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Ag patch (lx, ly)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thin Ag film (no patterning)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injection (one history step per item):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Delete default PEC box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StoreDoubleParameter "r", 580   (et al.)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Units: nm / THz / fs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Frequency range 100–300 THz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Boundary: X/Y unit cell, Z expanded open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Background: vacuum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Materials: Au_lossy, Ag_lossy, SiO2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Geometry: ground brick + spacer brick + resonator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Floquet ports (Zmax + Zmin, 2 modes each)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Solver type + mesh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5394960"/>
            <a:ext cx="61264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54864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/ mesh decision rule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Patterned absorbers (A, B):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Time Domain + PBA hex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Uniform planar (C):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Frequency Domain + Tetrahedral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with periodic Floquet boundaries does NOT excite an absorbing mode in a fully-uniform stack.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— the LLM-in-loop optimizer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proposes parameter changes with reasoning. The runner evaluates. Score decides keep or revert.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09444" y="2217420"/>
            <a:ext cx="100584" cy="0"/>
          </a:xfrm>
          <a:prstGeom prst="line">
            <a:avLst/>
          </a:prstGeom>
          <a:noFill/>
          <a:ln w="1524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9172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8E5D5"/>
          </a:solidFill>
          <a:ln w="19050">
            <a:solidFill>
              <a:srgbClr val="C77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4892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proposes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9956" y="2217420"/>
            <a:ext cx="100584" cy="0"/>
          </a:xfrm>
          <a:prstGeom prst="line">
            <a:avLst/>
          </a:prstGeom>
          <a:noFill/>
          <a:ln w="1524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29684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5404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constraints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0468" y="2217420"/>
            <a:ext cx="100584" cy="0"/>
          </a:xfrm>
          <a:prstGeom prst="line">
            <a:avLst/>
          </a:prstGeom>
          <a:noFill/>
          <a:ln w="1524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40196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916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40980" y="2217420"/>
            <a:ext cx="100584" cy="0"/>
          </a:xfrm>
          <a:prstGeom prst="line">
            <a:avLst/>
          </a:prstGeom>
          <a:noFill/>
          <a:ln w="1524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0708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6428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51492" y="2217420"/>
            <a:ext cx="100584" cy="0"/>
          </a:xfrm>
          <a:prstGeom prst="line">
            <a:avLst/>
          </a:prstGeom>
          <a:noFill/>
          <a:ln w="1524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1220" y="18288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8E5D5"/>
          </a:solidFill>
          <a:ln w="19050">
            <a:solidFill>
              <a:srgbClr val="C7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694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revert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880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score &lt; threshold or 5 consecutive no-improve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3246120"/>
            <a:ext cx="9052560" cy="0"/>
          </a:xfrm>
          <a:prstGeom prst="line">
            <a:avLst/>
          </a:prstGeom>
          <a:noFill/>
          <a:ln w="1270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384048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|f_peak − f_target| + 0.2 · max(0, 0.90 − peak_abs)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term: Hz of frequency error (dominant when peak is off-target).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term: penalty if peak amplitude &lt; 0.90 (kicks in for weak resonances).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threshold: 0.5 THz (≈ 4 nm wavelength accuracy at 1550 nm).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840480"/>
            <a:ext cx="5212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PER-ITERATION DETAIL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2976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input: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with hypothesis-specific physics; user message with target + last 12 results + last 5 reverts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output: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{changes: {...}, reasoning: "..."}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retry: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retries with the violation message in the prompt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CST: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runner.py — a CST crash never kills the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A   </a:t>
            </a:r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Disk MIM   ·   </a:t>
            </a:r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 MIM — peak landed 5 nm from target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1554.94 nm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nm error  </a:t>
            </a:r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(0.32 % of λ)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99.94 %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 absorption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iterations</a:t>
            </a:r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 keeps, 4 reverts)   </a:t>
            </a:r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</a:t>
            </a:r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wall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 (nm)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997050"/>
                <a:gridCol w="950976"/>
                <a:gridCol w="950976"/>
                <a:gridCol w="85587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converged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 (period)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993.59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</a:rPr>
                        <a:t>1300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+306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r (disk radius)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457.05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</a:rPr>
                        <a:t>580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+123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 (disk thickness)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105.98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105.98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 (SiO₂ spacer)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112.61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−12.6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t_ground (Au)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B8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EEF6FB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303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story: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iters 2–5 wasted ~6 min on a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LLM proposed shrinking r to lower the frequency, but the peak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75 THz upward instead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a higher-order LSPR took over near the period boundary. After expanding p from 1200 to 1300 nm at iter 6 (giving the disk room), the score collapsed: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5.21 → 0.61 → 0.19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three iterations.  This case directly motivated the mode-hop detector added in retrospective improvements (slide 11).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B   </a:t>
            </a:r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Rectangular-patch MIM   ·   </a:t>
            </a:r>
            <a:pPr indent="0" marL="0">
              <a:buNone/>
            </a:pPr>
            <a:r>
              <a:rPr lang="en-US" sz="1100" b="1" spc="200" kern="0" dirty="0">
                <a:solidFill>
                  <a:srgbClr val="ED6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CONVERGENCE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Rect-patch MIM — landed 7 % off, learned polarization axis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1662 nm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6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nm error  </a:t>
            </a:r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(7.2 % of λ)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79.0 %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 absorption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iterations</a:t>
            </a:r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(5 keeps, capped without convergence)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 (nm)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91640"/>
          <a:ext cx="4754880" cy="914400"/>
        </p:xfrm>
        <a:graphic>
          <a:graphicData uri="http://schemas.openxmlformats.org/drawingml/2006/table">
            <a:tbl>
              <a:tblPr/>
              <a:tblGrid>
                <a:gridCol w="3090672"/>
                <a:gridCol w="166420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7F0E"/>
                          </a:solidFill>
                        </a:rPr>
                        <a:t>1400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lx (initial long axis)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ly (now long axis)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7F0E"/>
                          </a:solidFill>
                        </a:rPr>
                        <a:t>1100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 (SiO₂ spacer)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7F0E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t_ground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FFF1E2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303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figured out empirically: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started with lx = 1100 nm as the LONG axis — but the dominant peak in the measured S₁₁ responded to ly. By the end of the run the agent had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the role of the two axes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growing ly to 1100 nm and shrinking lx to 500 nm. This is genuine empirical inference — not just executing prompted physics.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specced as elliptical disk per the rank-1 paper figure; pivoted to rect-patch after both ExtrudeCurve+Translate and Cylinder+Transform.Scale VBA paths failed (CST ActiveX 10091).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C   </a:t>
            </a:r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Planar Au/SiO₂/Ag stack   ·   </a:t>
            </a:r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CONVERGE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Planar Fabry-Perot — a real materials limit, not a bug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Domain solver: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absorptance identically zero across 100–300 THz (|S11|² = 1.0). TD with periodic Floquet boundaries on a fully-uniform structure does not excite an absorbing mode.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solver: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absorption (&lt; 5 %) pegged to spectrum edge. Real signal but no resonant peak.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attempts varying d ∈ {267, 300, 450, 600 nm} and t_top ∈ {8, 12 nm}. Score plateaued at 106.76 (the noise-floor score) for all of them.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(the physics)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lithography-free planar absorber relies on </a:t>
            </a:r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matching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 thin top metal film and free space at cavity resonance.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1550 nm, Au has  ε ≈ −95 + 11i  (Johnson &amp; Christy fit) — strongly Drude-dispersive.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materials use a constant-σ model (DC values + CST's high-frequency surface-impedance approximation). This is fine for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patterned LSPR-driven absorbers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and B work because the LC mode is dominant) — but for the impedance-matching cavity, the ratio of real to imaginary ε is wrong by an order of magnitude.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 reflection across the band.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physical/materials limitation, not a code bug.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EEFAEE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unblock: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CST's built-in dispersive Au / Ag from the material library.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nir/probe_drude_vba.py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 tries 9 candidate VBA syntaxes — likely takes one minute to find the right one in any given CST install.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designs — final spectra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red dashed = target 1550 nm / 193.41 THz · vertical dotted = each design's measured peak.</a:t>
            </a:r>
            <a:endParaRPr lang="en-US" sz="1400" dirty="0"/>
          </a:p>
        </p:txBody>
      </p:sp>
      <p:pic>
        <p:nvPicPr>
          <p:cNvPr id="5" name="Image 0" descr="D:/Claude/auto_cst/runs/FINAL_REPORT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489" y="1417320"/>
            <a:ext cx="7370543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robust CST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modes hit during the run, and the defensive code that now catches each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" cy="9144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10515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508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cst.results.ProjectFile silently breaks with relative paths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lookup raises “does not exist for run id=N” even though the data is in the file.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open_results() always passes Path(...).resolve()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9144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2423160"/>
            <a:ext cx="10515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4688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injection invalidates run_id=0; API default is run_id=0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lives at run_id=1+. Default get_result_item silently returns nothing.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queries get_all_run_ids(), requests highest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8640" cy="9144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97280" y="3383280"/>
            <a:ext cx="10515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4290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Solver/mesh combo matters — wrong combo gives zero absorption with no error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TD+PBA hex for patterned absorbers; FD+Tetrahedral for uniform planar.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Hypothesis-specific solver/mesh dispatch in runner.py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48640" cy="9144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4343400"/>
            <a:ext cx="10515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3891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Constant-σ Au/Ag wrong for impedance-matching designs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 plasmonic-resonance designs (A, B). Catastrophic for thin-film cavity (C).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probe_drude_vba.py auto-tries 9 dispersive-material syntaxes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548640" cy="9144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03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5303520"/>
            <a:ext cx="10515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349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extrapolates trends across mode hops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Iters 2–5 of hypothesis A wasted on a higher-order LSPR masquerading as the fundamental.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Mode-hop detector auto-warns the LLM in the user message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nm peak error in ~14 minutes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CST + LLM time, fully autonomous from a one-line target spec.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6576" cy="18288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Patterned absorbers worked (A converged, B partial). The lithography-free planar fell out — the materials model couldn't capture impedance matching. A genuinely different problem class.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6576" cy="18288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can do empirical inference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B's agent swapped the roles of lx and ly mid-run after seeing how the spectrum responded — not just executing prompted physics.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6576" cy="1828800"/>
          </a:xfrm>
          <a:prstGeom prst="rect">
            <a:avLst/>
          </a:prstGeom>
          <a:solidFill>
            <a:srgbClr val="C775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wrappers pay off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3246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silent CST footgun (relative-path indexing, run_id=0, solver/mesh combos) cost real wall-time the first time. Once wrapped, they're free for everyone after.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probe_drude_vba.py to fix dispersive Au/Ag and unblock hypothesis C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multi-resonator topology (Salisbury overlay or dual-disk supercell) to broaden the 105 nm FWHM toward the 200 nm target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C7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UV / mid-IR / GHz bands with per-band solver/mesh recipes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309360"/>
            <a:ext cx="2286000" cy="0"/>
          </a:xfrm>
          <a:prstGeom prst="line">
            <a:avLst/>
          </a:prstGeom>
          <a:noFill/>
          <a:ln w="19050">
            <a:solidFill>
              <a:srgbClr val="C7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github.com/DaryLu0v0/auto_cst   ·   runs/FINAL_REPORT.md   ·   nir/VBA_COOKBOOK.md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auto_cst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auto_cst — Autonomous NIR Perfect Absorber Design</dc:title>
  <dc:subject>PptxGenJS Presentation</dc:subject>
  <dc:creator>auto_cst</dc:creator>
  <cp:lastModifiedBy>auto_cst</cp:lastModifiedBy>
  <cp:revision>1</cp:revision>
  <dcterms:created xsi:type="dcterms:W3CDTF">2026-05-07T15:45:51Z</dcterms:created>
  <dcterms:modified xsi:type="dcterms:W3CDTF">2026-05-07T15:45:51Z</dcterms:modified>
</cp:coreProperties>
</file>